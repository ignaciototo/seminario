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645920"/>
            <a:ext cx="41148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TRABAJO PRÁCTICO INTEGRADOR · DEL PROBLEMA AL DEPLOY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194560"/>
            <a:ext cx="8961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📦 WMS Assistant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</a:defRPr>
            </a:pPr>
            <a:r>
              <a:t>Triaje Inteligente de Consultas Operativas en Lenguaje Natural mediante Zero-Shot Classification (NLI)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389120"/>
            <a:ext cx="8961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Alumno: Toto Ignacio   |   Docente: Cynthia M. Villagra</a:t>
            </a:r>
            <a:br/>
            <a:r>
              <a:t>Seminario de Actualización · Tecnicatura Superior en Ciencia de Datos e IA (IFTS N.° 18)</a:t>
            </a:r>
            <a:br/>
            <a:r>
              <a:t>Ciclo Lectivo 2026 — Segundo Cuatrimestre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El Problema de Negocio: Migración Crítica de WMS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🔄 Transición de 20 Años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Migración de un WMS in-house desarrollado hace 20 años hacia un software estándar de mercado. Cambio disruptivo de pantallas, teclas y flujos de trabajo en el piso del depósito.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0832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9202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🚨 Saturación de Key Users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Durante el Go-Live, los referentes operativos y líderes de proyecto quedan saturados respondiendo preguntas básicas repetitivas, paralizando su foco en incidencias críticas.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645920"/>
            <a:ext cx="342900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9202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⏳ Dispersión y Demoras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Los operarios envían la misma consulta a múltiples grupos de chat (WhatsApp, Teams, radio). Respuestas tardías, descoordinación y fricción operativa en andenes y pasillos.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Complejidad Léxica: ¿Por qué fallan las reglas sintácticas?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El Vocabulario del Depósito</a:t>
            </a:r>
          </a:p>
          <a:p>
            <a:pPr>
              <a:spcBef>
                <a:spcPts val="1000"/>
              </a:spcBef>
              <a:defRPr b="1" sz="1400">
                <a:solidFill>
                  <a:srgbClr val="1E293B"/>
                </a:solidFill>
              </a:defRPr>
            </a:pPr>
            <a:r>
              <a:t>• Jerga especializada y siglas: 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PDA, PLU, HDR (Hoja de Ruta), Hueco, Slotting, Bultos, Retrabajo, Pallets.</a:t>
            </a:r>
          </a:p>
          <a:p>
            <a:pPr>
              <a:spcBef>
                <a:spcPts val="1000"/>
              </a:spcBef>
              <a:defRPr b="1" sz="1400">
                <a:solidFill>
                  <a:srgbClr val="1E293B"/>
                </a:solidFill>
              </a:defRPr>
            </a:pPr>
            <a:r>
              <a:t>• Spanglish logístico: 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Pickear, piking, reapro, repo, consolidar, andén, semi.</a:t>
            </a:r>
          </a:p>
          <a:p>
            <a:pPr>
              <a:spcBef>
                <a:spcPts val="1000"/>
              </a:spcBef>
              <a:defRPr b="1" sz="1400">
                <a:solidFill>
                  <a:srgbClr val="1E293B"/>
                </a:solidFill>
              </a:defRPr>
            </a:pPr>
            <a:r>
              <a:t>• Palabras omnipresentes: 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  "PDA" y "pallets" aparecen en el 90% de las consultas.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11D48"/>
                </a:solidFill>
              </a:defRPr>
            </a:pPr>
            <a:r>
              <a:t>Reglas if/else vs. Zero-Shot NLI</a:t>
            </a:r>
          </a:p>
          <a:p>
            <a:pPr>
              <a:spcBef>
                <a:spcPts val="1000"/>
              </a:spcBef>
              <a:defRPr b="1" sz="1400">
                <a:solidFill>
                  <a:srgbClr val="E11D48"/>
                </a:solidFill>
              </a:defRPr>
            </a:pPr>
            <a:r>
              <a:t>❌ Enfoque Sintáctico (if 'pda' in texto):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Incapaz de discernir entre Picking, Recepción, Expedición o Inventario. Requiere cientos de expresiones regulares rígidas que colapsan ante sinónimos o faltas de ortografía.</a:t>
            </a:r>
          </a:p>
          <a:p>
            <a:pPr>
              <a:spcBef>
                <a:spcPts val="1600"/>
              </a:spcBef>
              <a:defRPr b="1" sz="1400">
                <a:solidFill>
                  <a:srgbClr val="059669"/>
                </a:solidFill>
              </a:defRPr>
            </a:pPr>
            <a:r>
              <a:t>✅ Enfoque Zero-Shot NLI (Semántica Profunda):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Comprende la acción contextual implícita en la consulta. No requiere dataset de entrenamiento previo y se adapta a etiquetas dinámicas en español en tiempo real.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Metodología: Inferencia de Lenguaje Natural (NLI)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1. Premisa del Operario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El usuario tipea su duda en lenguaje coloquial:</a:t>
            </a:r>
            <a:br/>
            <a:r>
              <a:t>"Terminé de descargar y la PDA me manda a guardar el pallet al pasillo 14..."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603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2. Hipótesis Generadas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Para cada una de las 8 áreas operativas, se construye una hipótesis:</a:t>
            </a:r>
            <a:br/>
            <a:r>
              <a:t>"Esta consulta corresponde al área de {Almacenamiento}."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603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3. Cálculo de Logits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El Transformer procesa la premisa contra cada hipótesis y computa las probabilidades de:</a:t>
            </a:r>
            <a:br/>
            <a:r>
              <a:t>• Implicación (Entailment)</a:t>
            </a:r>
            <a:br/>
            <a:r>
              <a:t>• Neutralidad</a:t>
            </a:r>
            <a:br/>
            <a:r>
              <a:t>• Contradicción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6032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4. Softmax y Derivación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Se aplica la función Softmax sobre los valores de implicación (suman 100%).</a:t>
            </a:r>
            <a:br/>
            <a:r>
              <a:t>Se devuelve el Top 1 sugerido, referente, canal y acción operativa.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Benchmark de Modelos: BERT-XNLI vs SELECTRA-Medium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265176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Criterio / Métrica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BERT-XNLI (110M)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SELECTRA-Medium (38M)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Impacto Operativo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Tamaño de los pesos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~440 MB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~163 MB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63% más liviano (descarga ágil)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Tiempo de carga en memoria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5.77 s - 6.15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0.64 s - 0.72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8x a 9x más rápido en el arranque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Latencia media por inferencia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~0.40 s - 0.42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~0.13 s - 0.18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3x más veloz en tiempo real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Consumo de memoria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~600 MB - 800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&lt; 300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Totalmente apto Free Tier (1 GB)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Decisión para el Deploy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Descartado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59669"/>
                          </a:solidFill>
                        </a:defRPr>
                      </a:pPr>
                      <a:r>
                        <a:t>🏆 SELECCIONADO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Ligereza, estabilidad y fluidez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212080"/>
            <a:ext cx="1069848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3A8A"/>
                </a:solidFill>
              </a:defRPr>
            </a:pPr>
            <a:r>
              <a:t>🎯 Conclusión del Benchmark: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Ambos modelos obtuvieron un empate técnico en exactitud en el benchmark de pruebas (36.4% de acierto estricto top-1), pero SELECTRA-Medium ofrece una ventaja abrumadora en eficiencia de hardware: consume la mitad de RAM y responde en 130 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5. Arquitectura del Deploy: Soberanía de Cómputo 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⚠️ Barreras de APIs Externas (Hugging Face API)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Error HTTP 402 (Payment Required):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Hugging Face router bloquea llamadas gratuitas y exige créditos prepagos para Inference Providers.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Sin Serverless para modelos de nicho: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SELECTRA-Medium no está desplegado en proveedores cloud comerciales, arrojando excepciones (StopIteration).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Dependencia crítica y latencia externa: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Riesgo de caídas de red, cuotas variables y fallas fuera de nuestro control operativo.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59669"/>
                </a:solidFill>
              </a:defRPr>
            </a:pPr>
            <a:r>
              <a:t>🚀 Solución: Pipeline Local en Streamlit Cloud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Soberanía y Disponibilidad Absoluta: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Ejecución local mediante transformers.pipeline directamente en la CPU del contenedor.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Cero Costo de Infraestructura: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No requiere saldo prepago, licencias comerciales ni dependencias de facturación por token.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Caché Residente (@st.cache_resource):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El modelo se instancia una única vez al levantar el servicio, quedando en memoria para respuestas inmediatas.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Consumo contenido (&lt; 300 MB):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Respeta holgadamente el límite de 1 GB de RAM del tier gratuito de Streamlit Community Cloud.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6. Análisis Cualitativo: Dónde acierta y dónde se equivoca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59669"/>
                </a:solidFill>
              </a:defRPr>
            </a:pPr>
            <a:r>
              <a:t>✅ Aciertos Clave de Negocio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Recepción de Pallets Dañados (67.5%):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Detectó la acción de recibir bultos con roturas y derivó a Muelle de Entrada.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Almacenamiento y Slotting (43.7%):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"PDA manda a guardar pero la altura del hueco no da...". Captó que era reubicación de guardado.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Reposición a Hueco de Picking (62.6%):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Comprendió el concepto operativo de alimentar posiciones de preparación de pedidos.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Auditoría de Inventario (36.1%):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Asoció diferencias entre físico y sistema con Control de Gestión / Inventario.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1D48"/>
                </a:solidFill>
              </a:defRPr>
            </a:pPr>
            <a:r>
              <a:t>🔍 Errores y Sesgos del Corpus Académico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Confusión Expedición vs Transporte: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Palabras como "camión" y "hoja de ruta" están fuertemente asociadas a Transporte en el corpus general, omitiendo que en el almacén el cierre de dársena es Expedición.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Limitación Bromatológica (Calidad):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Al consultar por consolidar "pollo con veneno", ningún modelo advirtió el peligro: el corpus XNLI carece de reglas de incompatibilidad de mercaderías químicas y alimenticias.</a:t>
            </a:r>
          </a:p>
          <a:p>
            <a:pPr>
              <a:spcBef>
                <a:spcPts val="800"/>
              </a:spcBef>
              <a:defRPr b="1" sz="1300">
                <a:solidFill>
                  <a:srgbClr val="1E293B"/>
                </a:solidFill>
              </a:defRPr>
            </a:pPr>
            <a:r>
              <a:t>• Fallas de Conectividad PDA: 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  Asocian el término "PDA" a operarios en el suelo físico y no a la mesa de ayuda de Sistemas y Soporte WMS.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7. La Solución en Producción: WMS Assistant Web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📱 Acceso Multiplataforma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Diseñada para abrirse fluidamente tanto en computadoras de escritorio de supervisores como en navegadores de colectoras de datos industriales (PDA Android/Zebra).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182880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⚡ Triaje con Top 1 y Top 2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Muestra el área primaria con nivel de certeza e incluye una segunda opción sugerida como alternativa de desvío para mitigar casos de frontera.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👥 Directorio de Canal de Contacto</a:t>
            </a:r>
          </a:p>
          <a:p>
            <a:r>
              <a:t>Indica el referente operativo exacto, el canal oficial de comunicación (#soporte-...) y la instrucción procedimental inmediata a 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148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206240"/>
            <a:ext cx="4892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</a:defRPr>
            </a:pPr>
            <a:r>
              <a:t>📊 Transparencia y Confianza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Visualiza mediante barras interactivas la distribución Softmax de probabilidades entre todas las áreas activas configuradas.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WMS ASSISTANT · TRIAJE INTELIGENTE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8. Conclusiones y Roadmap hacia Producto Corporativo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🎯 Conclusiones del Trabajo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Viabilidad Técnica Demostrada: Un modelo compacto de 38M parámetros resuelve el triaje contextual en tiempo real sin requerir GPUs costosas.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Soberanía Arquitectónica: Ejecutar localmente con pipeline inmuniza al proyecto frente a cambios comerciales o roturas de APIs externas.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Mitigación del Dolor Operativo: Ordena la comunicación interna durante el Go-Live y descongestiona a los Key Users de la compañía.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🚀 Próximos Pasos (Enterprise)</a:t>
            </a:r>
          </a:p>
          <a:p>
            <a:pPr>
              <a:spcBef>
                <a:spcPts val="800"/>
              </a:spcBef>
              <a:defRPr b="1" sz="1300">
                <a:solidFill>
                  <a:srgbClr val="1E3A8A"/>
                </a:solidFill>
              </a:defRPr>
            </a:pPr>
            <a:r>
              <a:t>1. Fine-Tuning de Dominio: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Reentrenar con tickets históricos del almacén para eliminar confusiones entre Transporte y Expedición.</a:t>
            </a:r>
          </a:p>
          <a:p>
            <a:pPr>
              <a:spcBef>
                <a:spcPts val="800"/>
              </a:spcBef>
              <a:defRPr b="1" sz="1300">
                <a:solidFill>
                  <a:srgbClr val="1E3A8A"/>
                </a:solidFill>
              </a:defRPr>
            </a:pPr>
            <a:r>
              <a:t>2. Active Learning: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Capturar feedback de los supervisores para reajustar automáticamente los pesos ante nuevos flujos.</a:t>
            </a:r>
          </a:p>
          <a:p>
            <a:pPr>
              <a:spcBef>
                <a:spcPts val="800"/>
              </a:spcBef>
              <a:defRPr b="1" sz="1300">
                <a:solidFill>
                  <a:srgbClr val="1E3A8A"/>
                </a:solidFill>
              </a:defRPr>
            </a:pPr>
            <a:r>
              <a:t>3. Integración en Colectora PDA: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Consumir el triaje como servicio embebido en la aplicación de la PDA industrial.</a:t>
            </a:r>
          </a:p>
          <a:p>
            <a:pPr>
              <a:spcBef>
                <a:spcPts val="800"/>
              </a:spcBef>
              <a:defRPr b="1" sz="1300">
                <a:solidFill>
                  <a:srgbClr val="1E3A8A"/>
                </a:solidFill>
              </a:defRPr>
            </a:pPr>
            <a:r>
              <a:t>4. Arquitectura de Alta Concurrencia: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Desacoplar a microservicio asíncrono (FastAPI + Redis/Celery + Kubernetes) para soportar &gt; 1000 usuarios en simultáneo.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